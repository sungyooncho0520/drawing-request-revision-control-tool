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0152" cy="1371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CMI Motor Architecture Exploration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822191"/>
            <a:ext cx="2377440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60152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64E7E"/>
                </a:solidFill>
                <a:latin typeface="맑은 고딕"/>
                <a:ea typeface="맑은 고딕"/>
                <a:cs typeface="맑은 고딕"/>
              </a:rPr>
              <a:t>CMI 기반 차세대 Motor Architecture 탐색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기존 소재로 구현하기 어려운 모터 구조를 가능하게 하는 자성 플랫폼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1. Why Are We Looking at Motors?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인덕터용 기술로 개발되었지만, 개발 과정에서 모터 분야 적용 가능성을 발견하였다.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현재 확보 실적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50kW CMI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100kW CMI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3상 일체형 자기회로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냉각 구조 통합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Motor Magnetic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100kW 3상 일체형 CMI 시제품 / 단품 코아 사진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50kW CMI 시제품 / 단품 코아 사진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자기회로 일체형 · 몰딩형 구조 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2. What We Learned from Power Magnetics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기존 자성체와 다른 구조적 장점을 제공한다.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현재 확보 데이터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Density 5.3~6.0 g/cc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Thermal Conductivity 3~4 W/mK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Bmax 12,000~15,000 Gauss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Operating Temperature -20~155℃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200℃까지 투자율 유지 특성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고온 환경 모터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소재 특성표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온도별 투자율 변화 그래프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신뢰성 시험 결과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3. Why Conventional Motors Are Difficult to Evolve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현재 모터 산업의 과제는 소재보다 구조 혁신에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시장 트렌드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Axial Flux Motor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Integrated Drive Unit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Robot Joint Motor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Compact Servo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구조 혁신 기반 모터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Axial Motor 단면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Hairpin Motor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Robot Joint Motor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4. Existing Magnetic Material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Electrical Steel 대체재가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Material Positioning  (비투자율 μr)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Electrical Steel  —  μr : 3,000~6,000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SMC  —  μr : 200~800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 —  μr : 20~60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Hard Magnet  —  NdFeB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새로운 소재 조합 — 규소강·벌크 하이브리드화로 투자율·Bs 상승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460857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Material Position Map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(X축: Shape Freedom  /  Y축: Magnetic Performance)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5. Then Why CMI?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CMI의 경쟁력은 투자율이 아니라 형상 자유도이다.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CMI 특징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Net Shape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Integrated Structure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Embedded Cooling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Multi-Material Compatibility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방식으로 구현 불가능한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실제 CMI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100kW 시제품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3상 일체형 자기회로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6. What Makes CMI Different?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자기회로와 구조물을 동시에 설계할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Steel  —  높은 투자율 / 낮은 형상 자유도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 —  낮은 투자율 / 높은 형상 자유도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Architecture Driven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Steel Stator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SMC Stator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CMI Concept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7. New Possibility #1 – Integrated Coil + Magnetic 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권선과 자기회로를 동시에 설계할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현재 확보 실적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권선 일체형 성형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대형 권선 구조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Manufacturing Simplification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인덕터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권선 포함 성형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미래 모터 구조 Concept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8. New Possibility #2 – Cooling Integrated Motor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냉각 구조와 자기회로를 동시에 설계할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100kW CMI 데이터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Ambient 50℃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Forced Air 0.074 kg/s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Maximum Temperature 83℃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High Power Density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열 시뮬레이션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온도 분포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냉각 경로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9. New Possibility #3 – Hard Magnet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Hard Magnet과 일체형 제작이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현재 진행 현황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국내 모터 스타트업 공동개발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자석 일체형 구조 검토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Integrated Rotor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Magnet Insert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Overmolding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Rotor Concept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10. New Possibility #4 – Axial Flux Motor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Axial Motor 분야에서 가장 높은 가능성을 가진다.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Axial Motor 요구사항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복잡 형상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냉각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일체형 구조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소형화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EV / Aerospace /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YASA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9547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Magnax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980431"/>
            <a:ext cx="5486400" cy="143865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CMI 적용 예상 구조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11. Proposed Hybrid Magnetic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CMI는 단독 사용보다 Hybrid Structure에서 가치가 크다.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가능한 구조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+ Hard Magnet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+ FeSi Ball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+ SMC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CMI + Steel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Next Generation Magnetic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460857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각 구조의 Concept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12. Technical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285232" cy="13258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현재 기술적 한계를 인정하고, 이를 해결하기 위한 개발을 진행 중이다.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2928"/>
            <a:ext cx="5239512" cy="2788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현재 과제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낮은 투자율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낮은 Bs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모터 효율 검증 필요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토크밀도 검증 필요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대량생산 검증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15584"/>
            <a:ext cx="5285232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FE3F5"/>
                </a:solidFill>
                <a:latin typeface="맑은 고딕"/>
                <a:ea typeface="맑은 고딕"/>
                <a:cs typeface="맑은 고딕"/>
              </a:rPr>
              <a:t>▶  Future Opportunity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차세대 플랫폼으로 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VISUAL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10512"/>
            <a:ext cx="5486400" cy="4608575"/>
          </a:xfrm>
          <a:prstGeom prst="rect">
            <a:avLst/>
          </a:prstGeom>
          <a:solidFill>
            <a:srgbClr val="F1F3F6"/>
          </a:solidFill>
          <a:ln w="12700">
            <a:solidFill>
              <a:srgbClr val="B4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［ 이미지 영역 ］</a:t>
            </a:r>
          </a:p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5A626C"/>
                </a:solidFill>
                <a:latin typeface="맑은 고딕"/>
                <a:ea typeface="맑은 고딕"/>
                <a:cs typeface="맑은 고딕"/>
              </a:rPr>
              <a:t>현재 수준 vs 목표 수준 — Radar Chart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13. What We Are Looking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86868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KEY MESSAGE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모터 전문 기업과 공동 검증을 희망한다.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394960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64E7E"/>
                </a:solidFill>
                <a:latin typeface="맑은 고딕"/>
                <a:ea typeface="맑은 고딕"/>
                <a:cs typeface="맑은 고딕"/>
              </a:rPr>
              <a:t>Seeking Partners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Axial Flux Motor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Robotics Motor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Servo Motor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Special Motor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Integrated Drive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514600"/>
            <a:ext cx="5394960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64E7E"/>
                </a:solidFill>
                <a:latin typeface="맑은 고딕"/>
                <a:ea typeface="맑은 고딕"/>
                <a:cs typeface="맑은 고딕"/>
              </a:rPr>
              <a:t>Expected Collaboration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Motor Simulation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Prototype Development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Performance Validation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•  Manufacturing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463040"/>
          </a:xfrm>
          <a:prstGeom prst="roundRect">
            <a:avLst/>
          </a:prstGeom>
          <a:solidFill>
            <a:srgbClr val="16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BFD7EC"/>
                </a:solidFill>
                <a:latin typeface="맑은 고딕"/>
                <a:ea typeface="맑은 고딕"/>
                <a:cs typeface="맑은 고딕"/>
              </a:rPr>
              <a:t>FINAL MESSAGE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CMI는 모터 소재 혁신을 목표로 하지 않는다.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CMI는 기존 소재로는 구현하기 어려운 새로운 Motor Architecture를 가능하게 하는 플랫폼이 되고자 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32B38"/>
                </a:solidFill>
                <a:latin typeface="Calibri"/>
                <a:ea typeface="Calibri"/>
                <a:cs typeface="Calibri"/>
              </a:rPr>
              <a:t>Appendix — 준비 항목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70432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61688" y="1170432"/>
            <a:ext cx="7315200" cy="41148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A929C"/>
                </a:solidFill>
                <a:latin typeface="맑은 고딕"/>
                <a:ea typeface="맑은 고딕"/>
                <a:cs typeface="맑은 고딕"/>
              </a:rPr>
              <a:t>발표 후 보강 예정 데이터 (Data to Prepare)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4068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BH Curve 데이터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Core Loss 데이터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Density 데이터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Thermal Conductivity 데이터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Temperature Stability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74519"/>
            <a:ext cx="5440680" cy="3291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Reliability 데이터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SEM 분석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단면 분석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자석 접합 강도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A3F47"/>
                </a:solidFill>
                <a:latin typeface="맑은 고딕"/>
                <a:ea typeface="맑은 고딕"/>
                <a:cs typeface="맑은 고딕"/>
              </a:rPr>
              <a:t>□  Maxwell / JMAG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183112" cy="9144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6FB2"/>
                </a:solidFill>
                <a:latin typeface="맑은 고딕"/>
                <a:ea typeface="맑은 고딕"/>
                <a:cs typeface="맑은 고딕"/>
              </a:rPr>
              <a:t>Motor Prototype 결과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32B38"/>
                </a:solidFill>
                <a:latin typeface="맑은 고딕"/>
                <a:ea typeface="맑은 고딕"/>
                <a:cs typeface="맑은 고딕"/>
              </a:rPr>
              <a:t>비욘드 로봇(Beyond Robotics) 데이터 입수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